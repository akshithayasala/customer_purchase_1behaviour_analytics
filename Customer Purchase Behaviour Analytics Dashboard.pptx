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7" r:id="rId2"/>
    <p:sldId id="259" r:id="rId3"/>
    <p:sldId id="260" r:id="rId4"/>
    <p:sldId id="258" r:id="rId5"/>
    <p:sldId id="261" r:id="rId6"/>
    <p:sldId id="262" r:id="rId7"/>
    <p:sldId id="263" r:id="rId8"/>
    <p:sldId id="267" r:id="rId9"/>
    <p:sldId id="264" r:id="rId10"/>
    <p:sldId id="266" r:id="rId11"/>
    <p:sldId id="268" r:id="rId12"/>
    <p:sldId id="277" r:id="rId13"/>
    <p:sldId id="269" r:id="rId14"/>
    <p:sldId id="270" r:id="rId15"/>
    <p:sldId id="271" r:id="rId16"/>
    <p:sldId id="272" r:id="rId17"/>
    <p:sldId id="273" r:id="rId18"/>
    <p:sldId id="275" r:id="rId19"/>
    <p:sldId id="27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77" y="3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0C8955-60B0-4C1B-99CC-F4BAF6ADD57A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9E8856-7017-471E-A871-3C0F2AF8C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2222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9E8856-7017-471E-A871-3C0F2AF8C99D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9062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7" name="Google Shape;24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4" name="Google Shape;25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767D5-9615-D919-E750-9401028B95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815A15-AE39-32EC-941B-01BC49A499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9FF5E0-FEF9-ABAC-4BAF-88E94E949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B2D11-5DE8-417F-B5CA-8DD90C342494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633097-2ED2-2513-018D-D3A997E76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59843-CFFA-91B5-89D8-482B959A9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EFFD8-34D1-41B3-97E1-381E3036C4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8675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C64F5-57B6-ED1B-51D1-484042299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4BF74-0D26-CAA0-BCA7-95305A9F11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298430-590D-62FA-B4C3-2CEC0EC72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B2D11-5DE8-417F-B5CA-8DD90C342494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A1E43B-54AA-0CD6-70AA-731943809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853306-1619-86D5-BD2C-2BDD7626E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EFFD8-34D1-41B3-97E1-381E3036C4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612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79BFF-AB3F-FF24-E33C-2A815BB72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56535D-55CB-968A-0E0B-6C85CB70A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6E9A58-0270-DAA3-980A-0EF803750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B2D11-5DE8-417F-B5CA-8DD90C342494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F934B6-1473-823F-545A-68E2808D8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55C9D5-ED39-1979-AA8D-23445E496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EFFD8-34D1-41B3-97E1-381E3036C4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7493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5471F-B3AA-B342-A760-08F6FC6EB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5466D-6C68-D022-0FE6-AFD8869391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84A9A8-591F-C127-31BB-F493079814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CA272-B3F6-00C2-D40C-DA95C9DCD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B2D11-5DE8-417F-B5CA-8DD90C342494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619194-13B3-61D5-3BA1-44607FE3A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7B2B00-CBD7-3FC5-A746-DDF5503B5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EFFD8-34D1-41B3-97E1-381E3036C4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4402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FDBF3-E778-C874-3249-751EB8228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F7BD44-BBE6-52B7-1433-617AAB2A5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035442-73A5-4623-78FD-3EFAE05F37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3ACE9C-F932-23F7-5E65-5C5976CD31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A3FA56-DD4D-6B21-D760-9FF92BB46B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86EC21-302A-38BF-F7E2-228277AFD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B2D11-5DE8-417F-B5CA-8DD90C342494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F60DCD-EC98-A9DA-7A74-39DB51549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44385A-21AD-5879-0E19-FD09B0855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EFFD8-34D1-41B3-97E1-381E3036C4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2552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71D16-9006-C688-9F70-7ED01CC9C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4EE89A-0EF5-E66E-BC02-A5CA9C5D8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B2D11-5DE8-417F-B5CA-8DD90C342494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48413F-1AFE-7746-2A7B-CA38D9605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D24D57-186B-94AE-A2DB-326C4A3C5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EFFD8-34D1-41B3-97E1-381E3036C4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8172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91A5FC-83F3-2539-08BA-980209DDA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B2D11-5DE8-417F-B5CA-8DD90C342494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23CB86-7091-049E-6F4C-9CCB53640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56783E-6368-4071-CE47-F8A030AB6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EFFD8-34D1-41B3-97E1-381E3036C4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4698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F9E3A-A19C-3F1B-B99E-1888CCE48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6F6E4-2E21-AAB8-980C-0CBEE2768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C52EBB-6702-9230-8A96-A54D405EF7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8F4657-2676-2F50-93D3-BA30B18DB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B2D11-5DE8-417F-B5CA-8DD90C342494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6FC495-2F8A-C383-C9EB-5432F2CCD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74D4F9-41C1-381D-9312-88356A8D0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EFFD8-34D1-41B3-97E1-381E3036C4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2537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7F765-5484-EA7A-8813-8810A7E4D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D22881-6D6F-B344-705F-1207A69A14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B24CFE-5CE8-ACC0-8D7E-169275849A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334A9B-F2D9-872C-EE87-9F46FD922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B2D11-5DE8-417F-B5CA-8DD90C342494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56DE23-23B6-9583-F89E-AB5CE66FF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4EB008-C484-C917-B017-C0C01E1D1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EFFD8-34D1-41B3-97E1-381E3036C4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418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C3B33-1380-50A1-22B4-21E26483E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E60B19-4AF8-5EE7-42DC-F9C70063E2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B20A3-9404-47B7-A2D8-D614B1F84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B2D11-5DE8-417F-B5CA-8DD90C342494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E3E0A-5BAF-E781-4160-D52FAA79C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293C0-4B39-26F5-D802-DB3C18378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EFFD8-34D1-41B3-97E1-381E3036C4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7637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E7D669-1E73-2355-1AF5-01B9B89029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C3323D-06B4-9E44-D19F-08C1EB7888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A75B77-3F55-32A2-CFCB-FE897BC5F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B2D11-5DE8-417F-B5CA-8DD90C342494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8C9BE-FFE5-A9E0-45A0-2492C3DFA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790E38-DB13-6B43-A3DA-9CC1ADB61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EFFD8-34D1-41B3-97E1-381E3036C4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287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9E4CA4-4A96-ADEB-429F-587C1B083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2CE3F6-F0E4-97BB-565B-04F14335C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82995F-43B9-B742-3155-5DD1A73039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AB2D11-5DE8-417F-B5CA-8DD90C342494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2CF086-C4CD-DBA1-DBB3-F934EF67D9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BB788E-3F35-2E6E-9DF9-CCD3C3C4ED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3EFFD8-34D1-41B3-97E1-381E3036C4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81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032736-152E-8646-B710-AED62D0F3EBF}"/>
              </a:ext>
            </a:extLst>
          </p:cNvPr>
          <p:cNvSpPr txBox="1"/>
          <p:nvPr/>
        </p:nvSpPr>
        <p:spPr>
          <a:xfrm>
            <a:off x="2311121" y="984739"/>
            <a:ext cx="8209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>
                <a:latin typeface="HONOR Sans Design Demibold DISP" panose="02000600000000000000" pitchFamily="2" charset="-122"/>
                <a:ea typeface="HONOR Sans Design Demibold DISP" panose="02000600000000000000" pitchFamily="2" charset="-122"/>
              </a:rPr>
              <a:t>Customer Shopping Behavior Analytics and Business Intelligence Dashboard</a:t>
            </a:r>
          </a:p>
        </p:txBody>
      </p:sp>
      <p:pic>
        <p:nvPicPr>
          <p:cNvPr id="5" name="Google Shape;86;p1">
            <a:extLst>
              <a:ext uri="{FF2B5EF4-FFF2-40B4-BE49-F238E27FC236}">
                <a16:creationId xmlns:a16="http://schemas.microsoft.com/office/drawing/2014/main" id="{67313267-E4CD-D6CD-6846-BBFDC01A0DD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238125"/>
            <a:ext cx="12192000" cy="73342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87;p1">
            <a:extLst>
              <a:ext uri="{FF2B5EF4-FFF2-40B4-BE49-F238E27FC236}">
                <a16:creationId xmlns:a16="http://schemas.microsoft.com/office/drawing/2014/main" id="{4A7DAE53-A197-D200-E1C9-D9887C7D984E}"/>
              </a:ext>
            </a:extLst>
          </p:cNvPr>
          <p:cNvSpPr txBox="1"/>
          <p:nvPr/>
        </p:nvSpPr>
        <p:spPr>
          <a:xfrm flipH="1">
            <a:off x="725156" y="3803864"/>
            <a:ext cx="10741688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rgbClr val="000000"/>
              </a:buClr>
              <a:buSzPts val="4000"/>
            </a:pPr>
            <a:r>
              <a:rPr lang="en-IN" sz="40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Purchase Behavior Analytics Dashboard</a:t>
            </a:r>
            <a:endParaRPr sz="4000" b="1" i="0" u="none" strike="noStrike" cap="none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0" name="Google Shape;88;p1">
            <a:extLst>
              <a:ext uri="{FF2B5EF4-FFF2-40B4-BE49-F238E27FC236}">
                <a16:creationId xmlns:a16="http://schemas.microsoft.com/office/drawing/2014/main" id="{FC9AAC1C-9D6D-72AA-FC7B-A420ED99A56D}"/>
              </a:ext>
            </a:extLst>
          </p:cNvPr>
          <p:cNvSpPr txBox="1"/>
          <p:nvPr/>
        </p:nvSpPr>
        <p:spPr>
          <a:xfrm flipH="1">
            <a:off x="7961100" y="5396060"/>
            <a:ext cx="42309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0" i="0" u="none" strike="noStrike" cap="non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Presented by-</a:t>
            </a:r>
            <a:endParaRPr sz="1800" b="0" i="0" u="none" strike="noStrike" cap="none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Akshitha Yasala</a:t>
            </a:r>
            <a:endParaRPr sz="1800" b="1" i="0" u="none" strike="noStrike" cap="none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4550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4"/>
          <p:cNvSpPr/>
          <p:nvPr/>
        </p:nvSpPr>
        <p:spPr>
          <a:xfrm>
            <a:off x="846396" y="210322"/>
            <a:ext cx="185465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Agenda</a:t>
            </a:r>
            <a:endParaRPr sz="18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1190919" y="859084"/>
            <a:ext cx="6096000" cy="5909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</a:rPr>
              <a:t>Business Problem</a:t>
            </a:r>
            <a:endParaRPr sz="1800"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</a:rPr>
              <a:t>Problem Statement</a:t>
            </a:r>
            <a:endParaRPr sz="1800"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Project Objective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Project Flow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Dataset Overview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endParaRPr lang="en-US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Exploratory Data Anlaysis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endParaRPr lang="en-IN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MySQL Analysis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endParaRPr lang="en-IN"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Power BI Dashboard Overview</a:t>
            </a:r>
            <a:endParaRPr lang="en-IN"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Business Insights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Recommendations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3"/>
          <p:cNvSpPr/>
          <p:nvPr/>
        </p:nvSpPr>
        <p:spPr>
          <a:xfrm>
            <a:off x="888543" y="662498"/>
            <a:ext cx="399801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Business Problem</a:t>
            </a:r>
            <a:endParaRPr sz="18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2D0383-4E3F-DE99-54A6-16E052597B30}"/>
              </a:ext>
            </a:extLst>
          </p:cNvPr>
          <p:cNvSpPr txBox="1"/>
          <p:nvPr/>
        </p:nvSpPr>
        <p:spPr>
          <a:xfrm>
            <a:off x="888543" y="1509796"/>
            <a:ext cx="10701494" cy="4108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/>
              <a:t>Customers and businesses face challenges in understanding shopping behavior because: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/>
              <a:t>Large volumes of customer purchase data are generated daily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/>
              <a:t>Customer buying patterns are difficult to identify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/>
              <a:t>Seasonal demand trends are not clearly understood </a:t>
            </a:r>
          </a:p>
          <a:p>
            <a:pPr>
              <a:lnSpc>
                <a:spcPct val="150000"/>
              </a:lnSpc>
            </a:pPr>
            <a:endParaRPr lang="en-IN"/>
          </a:p>
          <a:p>
            <a:pPr>
              <a:lnSpc>
                <a:spcPct val="150000"/>
              </a:lnSpc>
            </a:pPr>
            <a:r>
              <a:rPr lang="en-IN"/>
              <a:t>Retail businesses also need insights into: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/>
              <a:t>Revenue growth opportunities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/>
              <a:t>Customer experience and satisfaction improvement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/>
              <a:t>Business growth and profitability optimization</a:t>
            </a:r>
          </a:p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1;p3">
            <a:extLst>
              <a:ext uri="{FF2B5EF4-FFF2-40B4-BE49-F238E27FC236}">
                <a16:creationId xmlns:a16="http://schemas.microsoft.com/office/drawing/2014/main" id="{7A22384E-631E-0C1E-956F-D1680717C5CC}"/>
              </a:ext>
            </a:extLst>
          </p:cNvPr>
          <p:cNvSpPr/>
          <p:nvPr/>
        </p:nvSpPr>
        <p:spPr>
          <a:xfrm>
            <a:off x="848349" y="545470"/>
            <a:ext cx="451747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Problem Statement</a:t>
            </a:r>
            <a:endParaRPr sz="18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3ACE7A-9C1B-9F44-A558-8CB00FCAB630}"/>
              </a:ext>
            </a:extLst>
          </p:cNvPr>
          <p:cNvSpPr txBox="1"/>
          <p:nvPr/>
        </p:nvSpPr>
        <p:spPr>
          <a:xfrm>
            <a:off x="626349" y="1308788"/>
            <a:ext cx="10778532" cy="3965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600"/>
              <a:t>Retail organizations generate vast amounts of customer transaction data; however, transforming this raw data into reliable insights requires effective data preprocessing, cleaning, and transformation using NumPy and Pandas.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600"/>
              <a:t>Gaining a deeper understanding of customer purchasing behavior, product preferences, discount effectiveness, membership engagement, and sales patterns requires comprehensive Exploratory Data Analysis (EDA), MySQL-based data querying, and analytical techniques.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600"/>
              <a:t>To support strategic decision-making, businesses need interactive visualizations and Power BI dashboards that deliver actionable insights for enhancing customer retention, optimizing marketing and sales strategies, and driving sustainable business growth.</a:t>
            </a:r>
          </a:p>
        </p:txBody>
      </p:sp>
      <p:pic>
        <p:nvPicPr>
          <p:cNvPr id="5" name="Google Shape;249;p15">
            <a:extLst>
              <a:ext uri="{FF2B5EF4-FFF2-40B4-BE49-F238E27FC236}">
                <a16:creationId xmlns:a16="http://schemas.microsoft.com/office/drawing/2014/main" id="{2174D3C9-D568-BB9C-7C9C-A15935AFAEE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64578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E5F6B5-BCB9-5BA5-3F05-F37875E65BC6}"/>
              </a:ext>
            </a:extLst>
          </p:cNvPr>
          <p:cNvSpPr txBox="1"/>
          <p:nvPr/>
        </p:nvSpPr>
        <p:spPr>
          <a:xfrm>
            <a:off x="384349" y="403162"/>
            <a:ext cx="39766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Project Objective</a:t>
            </a:r>
            <a:endParaRPr lang="en-US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5654D2-FA04-270E-5C4D-9EF1A7C55A96}"/>
              </a:ext>
            </a:extLst>
          </p:cNvPr>
          <p:cNvSpPr txBox="1"/>
          <p:nvPr/>
        </p:nvSpPr>
        <p:spPr>
          <a:xfrm>
            <a:off x="384349" y="1235948"/>
            <a:ext cx="10801979" cy="4103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300000"/>
              </a:lnSpc>
            </a:pPr>
            <a:r>
              <a:rPr lang="en-IN" b="1"/>
              <a:t>Data Collection:</a:t>
            </a:r>
            <a:r>
              <a:rPr lang="en-IN"/>
              <a:t> Gathered customer shopping behavior data from a secondary data source. </a:t>
            </a:r>
          </a:p>
          <a:p>
            <a:pPr>
              <a:lnSpc>
                <a:spcPct val="300000"/>
              </a:lnSpc>
            </a:pPr>
            <a:r>
              <a:rPr lang="en-IN" b="1"/>
              <a:t>Data Preprocessing &amp; EDA:</a:t>
            </a:r>
            <a:r>
              <a:rPr lang="en-IN"/>
              <a:t> Cleaned, transformed, and analyzed data using </a:t>
            </a:r>
            <a:r>
              <a:rPr lang="en-IN" b="1"/>
              <a:t>NumPy</a:t>
            </a:r>
            <a:r>
              <a:rPr lang="en-IN"/>
              <a:t> and </a:t>
            </a:r>
            <a:r>
              <a:rPr lang="en-IN" b="1"/>
              <a:t>Pandas</a:t>
            </a:r>
            <a:r>
              <a:rPr lang="en-IN"/>
              <a:t>. </a:t>
            </a:r>
          </a:p>
          <a:p>
            <a:pPr>
              <a:lnSpc>
                <a:spcPct val="300000"/>
              </a:lnSpc>
            </a:pPr>
            <a:r>
              <a:rPr lang="en-IN" b="1"/>
              <a:t>Statistical Analysis:</a:t>
            </a:r>
            <a:r>
              <a:rPr lang="en-IN"/>
              <a:t> Performed descriptive statistics and hypothesis testing to validate key insights.</a:t>
            </a:r>
          </a:p>
          <a:p>
            <a:pPr>
              <a:lnSpc>
                <a:spcPct val="300000"/>
              </a:lnSpc>
            </a:pPr>
            <a:r>
              <a:rPr lang="en-IN" b="1"/>
              <a:t>MySQL Analysis:</a:t>
            </a:r>
            <a:r>
              <a:rPr lang="en-IN"/>
              <a:t> Used SQL queries to explore data and extract business insights. </a:t>
            </a:r>
          </a:p>
          <a:p>
            <a:pPr>
              <a:lnSpc>
                <a:spcPct val="300000"/>
              </a:lnSpc>
            </a:pPr>
            <a:r>
              <a:rPr lang="en-IN" b="1"/>
              <a:t>Power BI Visualization:</a:t>
            </a:r>
            <a:r>
              <a:rPr lang="en-IN"/>
              <a:t> Created interactive dashboards and visualizations for data-driven decision-making.</a:t>
            </a:r>
          </a:p>
        </p:txBody>
      </p:sp>
      <p:pic>
        <p:nvPicPr>
          <p:cNvPr id="6" name="Google Shape;249;p15">
            <a:extLst>
              <a:ext uri="{FF2B5EF4-FFF2-40B4-BE49-F238E27FC236}">
                <a16:creationId xmlns:a16="http://schemas.microsoft.com/office/drawing/2014/main" id="{73089F1E-B72C-6A1D-F448-136DD28C1A5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8370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2E58E2-4988-79C6-E87B-D906721BD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354" y="1234686"/>
            <a:ext cx="8842549" cy="52201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1DC4C6-BC04-91EF-84B5-A8493E27BCA9}"/>
              </a:ext>
            </a:extLst>
          </p:cNvPr>
          <p:cNvSpPr txBox="1"/>
          <p:nvPr/>
        </p:nvSpPr>
        <p:spPr>
          <a:xfrm>
            <a:off x="384349" y="403162"/>
            <a:ext cx="39766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Project Flow</a:t>
            </a:r>
            <a:endParaRPr lang="en-US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6E74E9-830F-102B-3821-AC33DEC6D3D9}"/>
              </a:ext>
            </a:extLst>
          </p:cNvPr>
          <p:cNvSpPr txBox="1"/>
          <p:nvPr/>
        </p:nvSpPr>
        <p:spPr>
          <a:xfrm>
            <a:off x="9531700" y="1582340"/>
            <a:ext cx="237894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/>
              <a:t>Raw Dataset</a:t>
            </a:r>
          </a:p>
          <a:p>
            <a:r>
              <a:rPr lang="en-IN"/>
              <a:t>     ↓</a:t>
            </a:r>
          </a:p>
          <a:p>
            <a:r>
              <a:rPr lang="en-IN"/>
              <a:t>Data Cleaning</a:t>
            </a:r>
          </a:p>
          <a:p>
            <a:r>
              <a:rPr lang="en-IN"/>
              <a:t>     ↓</a:t>
            </a:r>
          </a:p>
          <a:p>
            <a:r>
              <a:rPr lang="en-IN"/>
              <a:t>Data Transformation</a:t>
            </a:r>
          </a:p>
          <a:p>
            <a:r>
              <a:rPr lang="en-IN"/>
              <a:t>     ↓</a:t>
            </a:r>
          </a:p>
          <a:p>
            <a:r>
              <a:rPr lang="en-IN"/>
              <a:t>MySQL Storage</a:t>
            </a:r>
          </a:p>
          <a:p>
            <a:r>
              <a:rPr lang="en-IN"/>
              <a:t>     ↓</a:t>
            </a:r>
          </a:p>
          <a:p>
            <a:r>
              <a:rPr lang="en-IN"/>
              <a:t>EDA using Python</a:t>
            </a:r>
          </a:p>
          <a:p>
            <a:r>
              <a:rPr lang="en-IN"/>
              <a:t>     ↓</a:t>
            </a:r>
          </a:p>
          <a:p>
            <a:r>
              <a:rPr lang="en-IN"/>
              <a:t>Business Insights</a:t>
            </a:r>
          </a:p>
          <a:p>
            <a:r>
              <a:rPr lang="en-IN"/>
              <a:t>     ↓</a:t>
            </a:r>
          </a:p>
          <a:p>
            <a:r>
              <a:rPr lang="en-IN"/>
              <a:t>Power BI Dashboard</a:t>
            </a:r>
          </a:p>
        </p:txBody>
      </p:sp>
      <p:pic>
        <p:nvPicPr>
          <p:cNvPr id="9" name="Google Shape;249;p15">
            <a:extLst>
              <a:ext uri="{FF2B5EF4-FFF2-40B4-BE49-F238E27FC236}">
                <a16:creationId xmlns:a16="http://schemas.microsoft.com/office/drawing/2014/main" id="{C94ACDC2-5D86-1B03-1E34-8B7767709ED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68603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03F8DE-764C-3B86-A0AA-70CB0ECF28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2433" y="760702"/>
            <a:ext cx="7140559" cy="58831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6DAA758-B79D-6892-1764-0FE512C3935F}"/>
              </a:ext>
            </a:extLst>
          </p:cNvPr>
          <p:cNvSpPr txBox="1"/>
          <p:nvPr/>
        </p:nvSpPr>
        <p:spPr>
          <a:xfrm>
            <a:off x="334107" y="175927"/>
            <a:ext cx="39766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200" b="1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Da</a:t>
            </a:r>
            <a:r>
              <a:rPr lang="en-US" sz="3200" b="1" i="0" u="none" strike="noStrike" cap="none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taset Overview</a:t>
            </a:r>
            <a:endParaRPr lang="en-US" sz="32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Google Shape;249;p15">
            <a:extLst>
              <a:ext uri="{FF2B5EF4-FFF2-40B4-BE49-F238E27FC236}">
                <a16:creationId xmlns:a16="http://schemas.microsoft.com/office/drawing/2014/main" id="{7E10CA50-F8A8-A2D0-DEA8-47B70CB0D08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07173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54;g3eb490323b1_0_67">
            <a:extLst>
              <a:ext uri="{FF2B5EF4-FFF2-40B4-BE49-F238E27FC236}">
                <a16:creationId xmlns:a16="http://schemas.microsoft.com/office/drawing/2014/main" id="{6B127244-3DFD-3B36-9B81-D69C253647DF}"/>
              </a:ext>
            </a:extLst>
          </p:cNvPr>
          <p:cNvSpPr txBox="1"/>
          <p:nvPr/>
        </p:nvSpPr>
        <p:spPr>
          <a:xfrm>
            <a:off x="217061" y="21000"/>
            <a:ext cx="8624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Bivariate Analysis </a:t>
            </a:r>
            <a:endParaRPr sz="2800">
              <a:solidFill>
                <a:schemeClr val="dk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16E9F2-8A69-1994-EE81-5F4D9462D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188" y="1070816"/>
            <a:ext cx="3074796" cy="36820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813FF1A-344A-0C7F-BAE4-964F751C78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9358" y="1070816"/>
            <a:ext cx="3808326" cy="400175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B4E2E53-E4B3-6EC7-B055-EDC63E5D7013}"/>
              </a:ext>
            </a:extLst>
          </p:cNvPr>
          <p:cNvSpPr txBox="1"/>
          <p:nvPr/>
        </p:nvSpPr>
        <p:spPr>
          <a:xfrm>
            <a:off x="113881" y="843677"/>
            <a:ext cx="4046137" cy="4488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/>
              <a:t>Gender vs Purchase Amount:</a:t>
            </a:r>
            <a:r>
              <a:rPr lang="en-IN" sz="1600"/>
              <a:t> Compared spending behavior across genders to identify differences in average purchase amounts.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/>
              <a:t>Product Category vs Revenue:</a:t>
            </a:r>
            <a:r>
              <a:rPr lang="en-IN" sz="1600"/>
              <a:t> Analyzed which product categories generate the highest revenue and contribute most to sales.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/>
              <a:t>Business Insight:</a:t>
            </a:r>
            <a:r>
              <a:rPr lang="en-IN" sz="1600"/>
              <a:t> Revealed relationships between customer demographics and purchasing behavior, supporting targeted marketing and product strategies. </a:t>
            </a:r>
          </a:p>
        </p:txBody>
      </p:sp>
      <p:pic>
        <p:nvPicPr>
          <p:cNvPr id="13" name="Google Shape;249;p15">
            <a:extLst>
              <a:ext uri="{FF2B5EF4-FFF2-40B4-BE49-F238E27FC236}">
                <a16:creationId xmlns:a16="http://schemas.microsoft.com/office/drawing/2014/main" id="{30452BC1-24BE-3BD4-1F4C-31284346B1C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510103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607B869-9437-C8CE-8517-CAF9DCEF41F2}"/>
              </a:ext>
            </a:extLst>
          </p:cNvPr>
          <p:cNvSpPr txBox="1"/>
          <p:nvPr/>
        </p:nvSpPr>
        <p:spPr>
          <a:xfrm>
            <a:off x="92947" y="316604"/>
            <a:ext cx="633799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200" b="1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Exploratory Data Analysis(EDA)</a:t>
            </a:r>
            <a:endParaRPr lang="en-US" sz="32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139;p7">
            <a:extLst>
              <a:ext uri="{FF2B5EF4-FFF2-40B4-BE49-F238E27FC236}">
                <a16:creationId xmlns:a16="http://schemas.microsoft.com/office/drawing/2014/main" id="{1FDE81C3-5B08-891E-AF1B-DE2BE0A86707}"/>
              </a:ext>
            </a:extLst>
          </p:cNvPr>
          <p:cNvSpPr txBox="1"/>
          <p:nvPr/>
        </p:nvSpPr>
        <p:spPr>
          <a:xfrm>
            <a:off x="1215450" y="1881599"/>
            <a:ext cx="6170088" cy="3522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Checked dataset structure using: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.info()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.describe()</a:t>
            </a:r>
            <a:endParaRPr lang="en-US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.isnull()</a:t>
            </a:r>
          </a:p>
          <a:p>
            <a:pPr marL="5715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Handled missing values using: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Median, Mean, Mode</a:t>
            </a:r>
            <a:endParaRPr sz="1800">
              <a:solidFill>
                <a:schemeClr val="dk1"/>
              </a:solidFill>
            </a:endParaRPr>
          </a:p>
          <a:p>
            <a:pPr marL="914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Removed duplicate records</a:t>
            </a:r>
            <a:endParaRPr sz="18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Converted columns into proper data types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9" name="Google Shape;138;p7">
            <a:extLst>
              <a:ext uri="{FF2B5EF4-FFF2-40B4-BE49-F238E27FC236}">
                <a16:creationId xmlns:a16="http://schemas.microsoft.com/office/drawing/2014/main" id="{4BA06A74-DC91-FCE1-15B9-139B2DB5D3E3}"/>
              </a:ext>
            </a:extLst>
          </p:cNvPr>
          <p:cNvSpPr txBox="1"/>
          <p:nvPr/>
        </p:nvSpPr>
        <p:spPr>
          <a:xfrm>
            <a:off x="621053" y="1050377"/>
            <a:ext cx="8624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Data Preprocessing</a:t>
            </a:r>
            <a:endParaRPr sz="2800">
              <a:solidFill>
                <a:schemeClr val="dk1"/>
              </a:solidFill>
            </a:endParaRPr>
          </a:p>
        </p:txBody>
      </p:sp>
      <p:pic>
        <p:nvPicPr>
          <p:cNvPr id="10" name="Google Shape;249;p15">
            <a:extLst>
              <a:ext uri="{FF2B5EF4-FFF2-40B4-BE49-F238E27FC236}">
                <a16:creationId xmlns:a16="http://schemas.microsoft.com/office/drawing/2014/main" id="{B052B588-BBB6-5912-5667-A0BFD6CEDBF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57911EE-7D07-533E-1EB7-2C232DE64F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1332" y="901379"/>
            <a:ext cx="4762919" cy="5245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122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4;g3eb490323b1_0_67">
            <a:extLst>
              <a:ext uri="{FF2B5EF4-FFF2-40B4-BE49-F238E27FC236}">
                <a16:creationId xmlns:a16="http://schemas.microsoft.com/office/drawing/2014/main" id="{0EC3800F-B476-896E-9254-1E08D04A8B2A}"/>
              </a:ext>
            </a:extLst>
          </p:cNvPr>
          <p:cNvSpPr txBox="1"/>
          <p:nvPr/>
        </p:nvSpPr>
        <p:spPr>
          <a:xfrm>
            <a:off x="217061" y="21000"/>
            <a:ext cx="8624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Univariate Analysis </a:t>
            </a:r>
            <a:endParaRPr sz="2800">
              <a:solidFill>
                <a:schemeClr val="dk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59328B-AC77-41FD-8B42-055037313E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1301" y="117607"/>
            <a:ext cx="4178649" cy="36907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65B66-08FE-1565-F7BB-17F1BF1CAD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5834" y="117607"/>
            <a:ext cx="3712222" cy="37689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13DF24-698B-5F8E-098D-8F738B382B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7523" y="3808325"/>
            <a:ext cx="5758124" cy="24719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52EA445-8DA6-3343-8179-F117367E0FF2}"/>
              </a:ext>
            </a:extLst>
          </p:cNvPr>
          <p:cNvSpPr txBox="1"/>
          <p:nvPr/>
        </p:nvSpPr>
        <p:spPr>
          <a:xfrm>
            <a:off x="217061" y="730548"/>
            <a:ext cx="3634991" cy="5638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1400" b="1"/>
              <a:t>Age Distribution:</a:t>
            </a:r>
            <a:r>
              <a:rPr lang="en-IN" sz="1400"/>
              <a:t> Most customers belong to specific age groups, helping identify the primary target audience for marketing campaigns. </a:t>
            </a:r>
          </a:p>
          <a:p>
            <a:pPr algn="just">
              <a:lnSpc>
                <a:spcPct val="150000"/>
              </a:lnSpc>
            </a:pPr>
            <a:r>
              <a:rPr lang="en-IN" sz="1400" b="1"/>
              <a:t>Purchase Amount Distribution:</a:t>
            </a:r>
            <a:r>
              <a:rPr lang="en-IN" sz="1400"/>
              <a:t> Purchase amounts are concentrated within certain ranges, indicating typical customer spending behavior.</a:t>
            </a:r>
          </a:p>
          <a:p>
            <a:pPr algn="just">
              <a:lnSpc>
                <a:spcPct val="150000"/>
              </a:lnSpc>
            </a:pPr>
            <a:r>
              <a:rPr lang="en-IN" sz="1400"/>
              <a:t> </a:t>
            </a:r>
            <a:r>
              <a:rPr lang="en-IN" sz="1400" b="1"/>
              <a:t>Gender Distribution:</a:t>
            </a:r>
            <a:r>
              <a:rPr lang="en-IN" sz="1400"/>
              <a:t> The dataset shows the proportion of male and female customers, providing insights into customer demographics.</a:t>
            </a:r>
          </a:p>
          <a:p>
            <a:pPr algn="just">
              <a:lnSpc>
                <a:spcPct val="150000"/>
              </a:lnSpc>
            </a:pPr>
            <a:r>
              <a:rPr lang="en-IN" sz="1400"/>
              <a:t> </a:t>
            </a:r>
            <a:r>
              <a:rPr lang="en-IN" sz="1400" b="1"/>
              <a:t>Business Insight:</a:t>
            </a:r>
            <a:r>
              <a:rPr lang="en-IN" sz="1400"/>
              <a:t> Understanding individual variables such as Age, Purchase Amount, and Gender helps businesses design personalized promotions and improve customer engagement</a:t>
            </a:r>
            <a:r>
              <a:rPr lang="en-IN"/>
              <a:t>.</a:t>
            </a:r>
          </a:p>
        </p:txBody>
      </p:sp>
      <p:pic>
        <p:nvPicPr>
          <p:cNvPr id="10" name="Google Shape;249;p15">
            <a:extLst>
              <a:ext uri="{FF2B5EF4-FFF2-40B4-BE49-F238E27FC236}">
                <a16:creationId xmlns:a16="http://schemas.microsoft.com/office/drawing/2014/main" id="{8B5FB076-4856-BFD5-8285-7B642C647DB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076858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54;g3eb490323b1_0_67">
            <a:extLst>
              <a:ext uri="{FF2B5EF4-FFF2-40B4-BE49-F238E27FC236}">
                <a16:creationId xmlns:a16="http://schemas.microsoft.com/office/drawing/2014/main" id="{10DA2215-052D-B38D-DB9E-30EDDD7B0B32}"/>
              </a:ext>
            </a:extLst>
          </p:cNvPr>
          <p:cNvSpPr txBox="1"/>
          <p:nvPr/>
        </p:nvSpPr>
        <p:spPr>
          <a:xfrm>
            <a:off x="217061" y="21000"/>
            <a:ext cx="8624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Multivariate Analysis 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DF0A57-7658-2961-5798-50F894C5EB04}"/>
              </a:ext>
            </a:extLst>
          </p:cNvPr>
          <p:cNvSpPr txBox="1"/>
          <p:nvPr/>
        </p:nvSpPr>
        <p:spPr>
          <a:xfrm>
            <a:off x="492186" y="636600"/>
            <a:ext cx="3926393" cy="5935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IN" sz="1600" b="1"/>
              <a:t>Age + Gender + Spending:</a:t>
            </a:r>
            <a:r>
              <a:rPr lang="en-IN" sz="1600"/>
              <a:t> Analyzed how customer age and gender together influence purchase amounts and spending patterns. </a:t>
            </a:r>
          </a:p>
          <a:p>
            <a:pPr algn="just">
              <a:lnSpc>
                <a:spcPct val="200000"/>
              </a:lnSpc>
            </a:pPr>
            <a:r>
              <a:rPr lang="en-IN" sz="1600" b="1"/>
              <a:t>Season + Category + Revenue:</a:t>
            </a:r>
            <a:r>
              <a:rPr lang="en-IN" sz="1600"/>
              <a:t> Examined the combined impact of seasonal trends and product categories on revenu</a:t>
            </a:r>
            <a:r>
              <a:rPr lang="en-IN" sz="1400"/>
              <a:t>e </a:t>
            </a:r>
            <a:r>
              <a:rPr lang="en-IN" sz="1600"/>
              <a:t>generation. </a:t>
            </a:r>
          </a:p>
          <a:p>
            <a:pPr algn="just">
              <a:lnSpc>
                <a:spcPct val="200000"/>
              </a:lnSpc>
            </a:pPr>
            <a:r>
              <a:rPr lang="en-IN" sz="1600" b="1"/>
              <a:t>Business Insight:</a:t>
            </a:r>
            <a:r>
              <a:rPr lang="en-IN" sz="1600"/>
              <a:t> Helped identify high-value customer segments and seasonal product preferences, enabling data-driven marketing and inventory decisions.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624A3DE-2935-ECC9-C560-37AB495266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8579" y="548196"/>
            <a:ext cx="7671759" cy="26672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BAB8C03-C382-A742-CFEF-97068D85A9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3984" y="3429000"/>
            <a:ext cx="7416353" cy="2369963"/>
          </a:xfrm>
          <a:prstGeom prst="rect">
            <a:avLst/>
          </a:prstGeom>
        </p:spPr>
      </p:pic>
      <p:pic>
        <p:nvPicPr>
          <p:cNvPr id="11" name="Google Shape;249;p15">
            <a:extLst>
              <a:ext uri="{FF2B5EF4-FFF2-40B4-BE49-F238E27FC236}">
                <a16:creationId xmlns:a16="http://schemas.microsoft.com/office/drawing/2014/main" id="{65D1239B-5987-D36E-1A83-58C6046F38F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205437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1EB2CB-E2BF-07AF-FA96-3015B2090057}"/>
              </a:ext>
            </a:extLst>
          </p:cNvPr>
          <p:cNvSpPr txBox="1"/>
          <p:nvPr/>
        </p:nvSpPr>
        <p:spPr>
          <a:xfrm>
            <a:off x="5660571" y="532405"/>
            <a:ext cx="653142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/>
              <a:t>Hypothesis Test 2: Does Gender Influence Purchase Amount?</a:t>
            </a:r>
          </a:p>
          <a:p>
            <a:pPr>
              <a:buNone/>
            </a:pPr>
            <a:r>
              <a:rPr lang="en-IN" sz="1400" b="1"/>
              <a:t>Question - 2</a:t>
            </a:r>
          </a:p>
          <a:p>
            <a:pPr>
              <a:buNone/>
            </a:pPr>
            <a:r>
              <a:rPr lang="en-IN" sz="1400"/>
              <a:t>Is there a significant difference in spending between male and female customers?</a:t>
            </a:r>
          </a:p>
          <a:p>
            <a:pPr>
              <a:buNone/>
            </a:pPr>
            <a:r>
              <a:rPr lang="en-IN" sz="1400" b="1"/>
              <a:t>Null Hypothesis (H₀)</a:t>
            </a:r>
          </a:p>
          <a:p>
            <a:pPr>
              <a:buNone/>
            </a:pPr>
            <a:r>
              <a:rPr lang="en-IN" sz="1400"/>
              <a:t>Average purchase amount is the same for both genders.</a:t>
            </a:r>
          </a:p>
          <a:p>
            <a:pPr>
              <a:buNone/>
            </a:pPr>
            <a:r>
              <a:rPr lang="en-IN" sz="1400" b="1"/>
              <a:t>Alternative Hypothesis (H₁)</a:t>
            </a:r>
          </a:p>
          <a:p>
            <a:pPr>
              <a:buNone/>
            </a:pPr>
            <a:r>
              <a:rPr lang="en-IN" sz="1400"/>
              <a:t>Average purchase amount differs between genders.</a:t>
            </a:r>
          </a:p>
          <a:p>
            <a:pPr>
              <a:buNone/>
            </a:pPr>
            <a:r>
              <a:rPr lang="en-IN" sz="1400" b="1"/>
              <a:t>Test Used</a:t>
            </a:r>
          </a:p>
          <a:p>
            <a:pPr>
              <a:buNone/>
            </a:pPr>
            <a:r>
              <a:rPr lang="en-IN" sz="1400" b="1"/>
              <a:t>Independent Sample T-Test</a:t>
            </a:r>
            <a:endParaRPr lang="en-IN" sz="1400"/>
          </a:p>
          <a:p>
            <a:pPr>
              <a:buNone/>
            </a:pPr>
            <a:r>
              <a:rPr lang="en-IN" sz="1400" b="1"/>
              <a:t>Condition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/>
              <a:t>Gender is categorical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/>
              <a:t>Purchase Amount is numerical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F03821-92F0-A594-4463-0168FBE3F415}"/>
              </a:ext>
            </a:extLst>
          </p:cNvPr>
          <p:cNvSpPr txBox="1"/>
          <p:nvPr/>
        </p:nvSpPr>
        <p:spPr>
          <a:xfrm>
            <a:off x="213528" y="604674"/>
            <a:ext cx="5122147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/>
              <a:t>Hypothesis Test 1: Do Subscribed Customers Spend More?</a:t>
            </a:r>
          </a:p>
          <a:p>
            <a:pPr>
              <a:buNone/>
            </a:pPr>
            <a:r>
              <a:rPr lang="en-IN" sz="1400" b="1"/>
              <a:t>Question - 1</a:t>
            </a:r>
          </a:p>
          <a:p>
            <a:pPr>
              <a:buNone/>
            </a:pPr>
            <a:r>
              <a:rPr lang="en-IN" sz="1400"/>
              <a:t>Does Membership Status affect Purchase Amount?</a:t>
            </a:r>
          </a:p>
          <a:p>
            <a:pPr>
              <a:buNone/>
            </a:pPr>
            <a:r>
              <a:rPr lang="en-IN" sz="1400" b="1"/>
              <a:t>Null Hypothesis (H₀)</a:t>
            </a:r>
          </a:p>
          <a:p>
            <a:pPr>
              <a:buNone/>
            </a:pPr>
            <a:r>
              <a:rPr lang="en-IN" sz="1400"/>
              <a:t>There is </a:t>
            </a:r>
            <a:r>
              <a:rPr lang="en-IN" sz="1400" b="1"/>
              <a:t>no significant difference</a:t>
            </a:r>
            <a:r>
              <a:rPr lang="en-IN" sz="1400"/>
              <a:t> in purchase amounts between subscribed and non-subscribed customers.</a:t>
            </a:r>
          </a:p>
          <a:p>
            <a:pPr>
              <a:buNone/>
            </a:pPr>
            <a:r>
              <a:rPr lang="en-IN" sz="1400" b="1"/>
              <a:t>Alternative Hypothesis (H₁)</a:t>
            </a:r>
          </a:p>
          <a:p>
            <a:pPr>
              <a:buNone/>
            </a:pPr>
            <a:r>
              <a:rPr lang="en-IN" sz="1400"/>
              <a:t>There is a </a:t>
            </a:r>
            <a:r>
              <a:rPr lang="en-IN" sz="1400" b="1"/>
              <a:t>significant difference</a:t>
            </a:r>
            <a:r>
              <a:rPr lang="en-IN" sz="1400"/>
              <a:t> in purchase amounts between subscribed and non-subscribed customers.</a:t>
            </a:r>
          </a:p>
          <a:p>
            <a:pPr>
              <a:buNone/>
            </a:pPr>
            <a:r>
              <a:rPr lang="en-IN" sz="1400" b="1"/>
              <a:t>Test Used</a:t>
            </a:r>
          </a:p>
          <a:p>
            <a:pPr>
              <a:buNone/>
            </a:pPr>
            <a:r>
              <a:rPr lang="en-IN" sz="1400" b="1"/>
              <a:t>Independent Sample T-Test</a:t>
            </a:r>
            <a:endParaRPr lang="en-IN" sz="1400"/>
          </a:p>
          <a:p>
            <a:pPr>
              <a:buNone/>
            </a:pPr>
            <a:r>
              <a:rPr lang="en-IN" sz="1400" b="1"/>
              <a:t>Condition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/>
              <a:t>Two independent groups (Subscribed vs Non-Subscribed)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/>
              <a:t>Purchase Amount is numerical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0D606B-DFC5-9E7A-622C-EFDB6F993D31}"/>
              </a:ext>
            </a:extLst>
          </p:cNvPr>
          <p:cNvSpPr txBox="1"/>
          <p:nvPr/>
        </p:nvSpPr>
        <p:spPr>
          <a:xfrm>
            <a:off x="361741" y="163073"/>
            <a:ext cx="35772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>
                <a:solidFill>
                  <a:srgbClr val="FF0000"/>
                </a:solidFill>
              </a:rPr>
              <a:t>Hypothesis Testing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3F043C9-6F74-E685-8F05-D6B556BB35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29" y="3785487"/>
            <a:ext cx="5143946" cy="27459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F8AB071-4AA1-1A45-1E95-412CC3DF72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0570" y="3215436"/>
            <a:ext cx="5010779" cy="3537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4836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3F69FA-5722-3A37-2211-0FFE631F7A6F}"/>
              </a:ext>
            </a:extLst>
          </p:cNvPr>
          <p:cNvSpPr txBox="1"/>
          <p:nvPr/>
        </p:nvSpPr>
        <p:spPr>
          <a:xfrm>
            <a:off x="535075" y="256314"/>
            <a:ext cx="633799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200" b="1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MySQL Analysis</a:t>
            </a:r>
            <a:endParaRPr lang="en-US" sz="32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9D20E1-4F02-3D2A-35E3-AB3AFFB89C06}"/>
              </a:ext>
            </a:extLst>
          </p:cNvPr>
          <p:cNvSpPr txBox="1"/>
          <p:nvPr/>
        </p:nvSpPr>
        <p:spPr>
          <a:xfrm>
            <a:off x="683288" y="1070210"/>
            <a:ext cx="4240404" cy="5453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/>
              <a:t>SQL Queries Performed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/>
              <a:t>Top Revenue Categories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/>
              <a:t>Customer Segmentation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/>
              <a:t>Seasonal Sales Analysis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/>
              <a:t>Subscription-Based Revenue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/>
              <a:t>Average Purchase Analysis </a:t>
            </a:r>
          </a:p>
          <a:p>
            <a:pPr>
              <a:lnSpc>
                <a:spcPct val="150000"/>
              </a:lnSpc>
              <a:buNone/>
            </a:pPr>
            <a:r>
              <a:rPr lang="en-IN" b="1"/>
              <a:t>SQL Concepts Used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/>
              <a:t>GROUP BY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/>
              <a:t>ORDER BY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/>
              <a:t>Aggregate Functions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/>
              <a:t>Window Functions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/>
              <a:t>CASE Statements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/>
              <a:t>Stored Procedures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9A6205-E6BC-0E4D-7C28-2658835660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3782" y="757666"/>
            <a:ext cx="6531984" cy="33876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6B39C03-45C5-5529-AD64-2566066046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3782" y="4202567"/>
            <a:ext cx="6287045" cy="2264228"/>
          </a:xfrm>
          <a:prstGeom prst="rect">
            <a:avLst/>
          </a:prstGeom>
        </p:spPr>
      </p:pic>
      <p:pic>
        <p:nvPicPr>
          <p:cNvPr id="10" name="Google Shape;249;p15">
            <a:extLst>
              <a:ext uri="{FF2B5EF4-FFF2-40B4-BE49-F238E27FC236}">
                <a16:creationId xmlns:a16="http://schemas.microsoft.com/office/drawing/2014/main" id="{47B33641-799E-1306-89AB-B7ED6F420D9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076667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E119E8-978C-8F1E-D155-E94C12C252FB}"/>
              </a:ext>
            </a:extLst>
          </p:cNvPr>
          <p:cNvSpPr txBox="1"/>
          <p:nvPr/>
        </p:nvSpPr>
        <p:spPr>
          <a:xfrm>
            <a:off x="361741" y="256314"/>
            <a:ext cx="66319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200" b="1" i="0" u="none" strike="noStrike" cap="none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Power BI Dashboard Overview</a:t>
            </a:r>
            <a:endParaRPr lang="en-US" sz="32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37FA8A-7F58-EBC4-A872-14BD00772511}"/>
              </a:ext>
            </a:extLst>
          </p:cNvPr>
          <p:cNvSpPr txBox="1"/>
          <p:nvPr/>
        </p:nvSpPr>
        <p:spPr>
          <a:xfrm>
            <a:off x="361741" y="964532"/>
            <a:ext cx="4991519" cy="3445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buNone/>
            </a:pPr>
            <a:r>
              <a:rPr lang="en-IN" b="1"/>
              <a:t>Created 4 Interactive Dashboards</a:t>
            </a:r>
          </a:p>
          <a:p>
            <a:pPr>
              <a:lnSpc>
                <a:spcPct val="250000"/>
              </a:lnSpc>
              <a:buFont typeface="+mj-lt"/>
              <a:buAutoNum type="arabicPeriod"/>
            </a:pPr>
            <a:r>
              <a:rPr lang="en-IN"/>
              <a:t>Executive Sales Overview </a:t>
            </a:r>
          </a:p>
          <a:p>
            <a:pPr>
              <a:lnSpc>
                <a:spcPct val="250000"/>
              </a:lnSpc>
              <a:buFont typeface="+mj-lt"/>
              <a:buAutoNum type="arabicPeriod"/>
            </a:pPr>
            <a:r>
              <a:rPr lang="en-IN"/>
              <a:t>Customer Demographics Analysis </a:t>
            </a:r>
          </a:p>
          <a:p>
            <a:pPr>
              <a:lnSpc>
                <a:spcPct val="250000"/>
              </a:lnSpc>
              <a:buFont typeface="+mj-lt"/>
              <a:buAutoNum type="arabicPeriod"/>
            </a:pPr>
            <a:r>
              <a:rPr lang="en-IN"/>
              <a:t>Shopping Behavior Analysis </a:t>
            </a:r>
          </a:p>
          <a:p>
            <a:pPr>
              <a:lnSpc>
                <a:spcPct val="250000"/>
              </a:lnSpc>
              <a:buFont typeface="+mj-lt"/>
              <a:buAutoNum type="arabicPeriod"/>
            </a:pPr>
            <a:r>
              <a:rPr lang="en-IN"/>
              <a:t>Customer Satisfaction &amp; Loyalty Analysis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97C4CB7-B9A1-5F2E-EE82-4E2F89D84E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0954" y="1235125"/>
            <a:ext cx="3396343" cy="212621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7E4F6B4-C4E8-2C07-5448-EDBD1A514A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0201" y="1235126"/>
            <a:ext cx="3529750" cy="212621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7F370C1-28CB-7EB6-3F7B-BCB6F55E7D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4935" y="3755376"/>
            <a:ext cx="3640282" cy="220876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D2F1EAF-3DA2-89A9-8731-966302558B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954" y="3755377"/>
            <a:ext cx="3396343" cy="2208761"/>
          </a:xfrm>
          <a:prstGeom prst="rect">
            <a:avLst/>
          </a:prstGeom>
        </p:spPr>
      </p:pic>
      <p:pic>
        <p:nvPicPr>
          <p:cNvPr id="15" name="Google Shape;249;p15">
            <a:extLst>
              <a:ext uri="{FF2B5EF4-FFF2-40B4-BE49-F238E27FC236}">
                <a16:creationId xmlns:a16="http://schemas.microsoft.com/office/drawing/2014/main" id="{636DD6D0-7012-8507-BC92-0281A250A93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454746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7B3413-693F-0F67-D7BE-6CB0D8E7EDF4}"/>
              </a:ext>
            </a:extLst>
          </p:cNvPr>
          <p:cNvSpPr txBox="1"/>
          <p:nvPr/>
        </p:nvSpPr>
        <p:spPr>
          <a:xfrm>
            <a:off x="622998" y="457281"/>
            <a:ext cx="66319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2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Key Business Insights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3C8AEA-622F-913B-1981-3D20D9EEE008}"/>
              </a:ext>
            </a:extLst>
          </p:cNvPr>
          <p:cNvSpPr txBox="1"/>
          <p:nvPr/>
        </p:nvSpPr>
        <p:spPr>
          <a:xfrm>
            <a:off x="432079" y="1175657"/>
            <a:ext cx="11424976" cy="4458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600"/>
              <a:t>High-performing product categories emerged as major revenue drivers, contributing significantly to overall sales.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600"/>
              <a:t> Seasonal trends had a noticeable impact on purchasing patterns, with certain seasons recording higher customer activity and sales.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600"/>
              <a:t>Higher customer review ratings were associated with increased purchase amounts, indicating a strong relationship between customer satisfaction and sales performance.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600"/>
              <a:t> Repeat customers contributed a substantial portion of total revenue, highlighting the importance of customer retention and loyalty programs.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600"/>
              <a:t>Customer demographics such as age, gender, and location influenced shopping preferences and spending behavior, enabling opportunities for targeted marketing strategies.</a:t>
            </a:r>
          </a:p>
        </p:txBody>
      </p:sp>
      <p:pic>
        <p:nvPicPr>
          <p:cNvPr id="5" name="Google Shape;249;p15">
            <a:extLst>
              <a:ext uri="{FF2B5EF4-FFF2-40B4-BE49-F238E27FC236}">
                <a16:creationId xmlns:a16="http://schemas.microsoft.com/office/drawing/2014/main" id="{4E70DE48-2C2A-8199-C719-074B499C5FD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66033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319450-832D-40B7-F30F-ED7FC9BB8741}"/>
              </a:ext>
            </a:extLst>
          </p:cNvPr>
          <p:cNvSpPr txBox="1"/>
          <p:nvPr/>
        </p:nvSpPr>
        <p:spPr>
          <a:xfrm>
            <a:off x="492368" y="708489"/>
            <a:ext cx="66319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Recommendations</a:t>
            </a:r>
            <a:endParaRPr lang="en-US" sz="32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98E5A7-6957-F41E-47D0-529A6569B358}"/>
              </a:ext>
            </a:extLst>
          </p:cNvPr>
          <p:cNvSpPr txBox="1"/>
          <p:nvPr/>
        </p:nvSpPr>
        <p:spPr>
          <a:xfrm>
            <a:off x="411982" y="1413845"/>
            <a:ext cx="10942655" cy="34456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IN"/>
              <a:t>Focus marketing on high-spending customer segments.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IN"/>
              <a:t>Improve loyalty/subscription programs.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IN"/>
              <a:t>Increase inventory during peak seasons.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IN"/>
              <a:t>Target personalized promotions. 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IN"/>
              <a:t>Enhance customer experience to improve ratings.</a:t>
            </a:r>
          </a:p>
        </p:txBody>
      </p:sp>
      <p:pic>
        <p:nvPicPr>
          <p:cNvPr id="4" name="Google Shape;249;p15">
            <a:extLst>
              <a:ext uri="{FF2B5EF4-FFF2-40B4-BE49-F238E27FC236}">
                <a16:creationId xmlns:a16="http://schemas.microsoft.com/office/drawing/2014/main" id="{30993B7E-D5C4-A038-B5CE-2FD22FB3308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342473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AB3F16-E298-7194-7105-3930A88359D5}"/>
              </a:ext>
            </a:extLst>
          </p:cNvPr>
          <p:cNvSpPr txBox="1"/>
          <p:nvPr/>
        </p:nvSpPr>
        <p:spPr>
          <a:xfrm>
            <a:off x="321547" y="1425162"/>
            <a:ext cx="11103428" cy="48306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IN"/>
              <a:t>• Converted raw data into meaningful business insights.</a:t>
            </a:r>
          </a:p>
          <a:p>
            <a:pPr>
              <a:lnSpc>
                <a:spcPct val="250000"/>
              </a:lnSpc>
            </a:pPr>
            <a:r>
              <a:rPr lang="en-IN"/>
              <a:t>• Performed analysis using Python, Pandas, NumPy, and MySQL.</a:t>
            </a:r>
          </a:p>
          <a:p>
            <a:pPr>
              <a:lnSpc>
                <a:spcPct val="250000"/>
              </a:lnSpc>
            </a:pPr>
            <a:r>
              <a:rPr lang="en-IN"/>
              <a:t>• Built interactive Power BI dashboards for decision-making.</a:t>
            </a:r>
          </a:p>
          <a:p>
            <a:pPr>
              <a:lnSpc>
                <a:spcPct val="250000"/>
              </a:lnSpc>
            </a:pPr>
            <a:r>
              <a:rPr lang="en-IN"/>
              <a:t>• Identified key customer behavior and spending patterns.</a:t>
            </a:r>
          </a:p>
          <a:p>
            <a:pPr>
              <a:lnSpc>
                <a:spcPct val="250000"/>
              </a:lnSpc>
            </a:pPr>
            <a:r>
              <a:rPr lang="en-IN"/>
              <a:t>• Discovered major revenue drivers and sales trends.</a:t>
            </a:r>
          </a:p>
          <a:p>
            <a:pPr>
              <a:lnSpc>
                <a:spcPct val="250000"/>
              </a:lnSpc>
            </a:pPr>
            <a:r>
              <a:rPr lang="en-IN"/>
              <a:t>• Suggested strategies to improve customer retention and business growth.</a:t>
            </a:r>
          </a:p>
          <a:p>
            <a:pPr algn="just">
              <a:lnSpc>
                <a:spcPct val="250000"/>
              </a:lnSpc>
            </a:pPr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230844-DA35-E1DC-F54A-F36868D8080A}"/>
              </a:ext>
            </a:extLst>
          </p:cNvPr>
          <p:cNvSpPr txBox="1"/>
          <p:nvPr/>
        </p:nvSpPr>
        <p:spPr>
          <a:xfrm>
            <a:off x="452175" y="708489"/>
            <a:ext cx="66319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lang="en-US" sz="32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Google Shape;249;p15">
            <a:extLst>
              <a:ext uri="{FF2B5EF4-FFF2-40B4-BE49-F238E27FC236}">
                <a16:creationId xmlns:a16="http://schemas.microsoft.com/office/drawing/2014/main" id="{E2D08A54-6F4B-8045-F239-320320DCBBD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104650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5"/>
          <p:cNvSpPr/>
          <p:nvPr/>
        </p:nvSpPr>
        <p:spPr>
          <a:xfrm>
            <a:off x="6166906" y="1843950"/>
            <a:ext cx="2995833" cy="317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1" name="Google Shape;251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1306" y="1718675"/>
            <a:ext cx="8129393" cy="300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16"/>
          <p:cNvPicPr preferRelativeResize="0"/>
          <p:nvPr/>
        </p:nvPicPr>
        <p:blipFill rotWithShape="1">
          <a:blip r:embed="rId3">
            <a:alphaModFix/>
          </a:blip>
          <a:srcRect l="608" t="2063"/>
          <a:stretch/>
        </p:blipFill>
        <p:spPr>
          <a:xfrm>
            <a:off x="197224" y="168117"/>
            <a:ext cx="11788588" cy="6544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962</Words>
  <Application>Microsoft Office PowerPoint</Application>
  <PresentationFormat>Widescreen</PresentationFormat>
  <Paragraphs>152</Paragraphs>
  <Slides>19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HONOR Sans Design Demibold DISP</vt:lpstr>
      <vt:lpstr>Aptos</vt:lpstr>
      <vt:lpstr>Aptos Display</vt:lpstr>
      <vt:lpstr>Arial</vt:lpstr>
      <vt:lpstr>Calibri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Akshitha Yasala</dc:creator>
  <cp:lastModifiedBy>Akshitha Yasala</cp:lastModifiedBy>
  <cp:revision>1</cp:revision>
  <dcterms:created xsi:type="dcterms:W3CDTF">2026-06-07T05:41:07Z</dcterms:created>
  <dcterms:modified xsi:type="dcterms:W3CDTF">2026-06-07T10:22:31Z</dcterms:modified>
</cp:coreProperties>
</file>